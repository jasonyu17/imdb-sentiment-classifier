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schemas.openxmlformats.org/officeDocument/2006/relationships/slide" Target="slides/slide19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71caee3e7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71caee3e7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71caee3e7e_0_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71caee3e7e_0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71caee3e7e_0_4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71caee3e7e_0_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71caee3e7e_0_4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71caee3e7e_0_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71caee3e7e_0_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71caee3e7e_0_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71caee3e7e_0_4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71caee3e7e_0_4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71caee3e7e_0_4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71caee3e7e_0_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71caee3e7e_0_4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71caee3e7e_0_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1caee3e7e_0_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71caee3e7e_0_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1caee3e7e_0_4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71caee3e7e_0_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1caee3e7e_0_4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71caee3e7e_0_4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71caee3e7e_0_4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71caee3e7e_0_4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71caee3e7e_0_5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71caee3e7e_0_5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71caee3e7e_0_5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71caee3e7e_0_5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71d78b6d76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71d78b6d7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71d78b6d76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71d78b6d7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71caee3e7e_0_5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71caee3e7e_0_5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71d78b6d7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71d78b6d7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IMDB Sentiment Classifier Project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CSC 4850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Jason Yu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What is a Sentiment Classifier 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Georgia"/>
              <a:buChar char="●"/>
            </a:pPr>
            <a:r>
              <a:rPr lang="en" sz="2100">
                <a:latin typeface="Georgia"/>
                <a:ea typeface="Georgia"/>
                <a:cs typeface="Georgia"/>
                <a:sym typeface="Georgia"/>
              </a:rPr>
              <a:t>A type of Natural Language Processing task</a:t>
            </a:r>
            <a:endParaRPr sz="2100">
              <a:latin typeface="Georgia"/>
              <a:ea typeface="Georgia"/>
              <a:cs typeface="Georgia"/>
              <a:sym typeface="Georgia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Georgia"/>
              <a:buChar char="●"/>
            </a:pPr>
            <a:r>
              <a:rPr lang="en" sz="2100">
                <a:latin typeface="Georgia"/>
                <a:ea typeface="Georgia"/>
                <a:cs typeface="Georgia"/>
                <a:sym typeface="Georgia"/>
              </a:rPr>
              <a:t>Involves </a:t>
            </a:r>
            <a:r>
              <a:rPr lang="en" sz="2100">
                <a:latin typeface="Georgia"/>
                <a:ea typeface="Georgia"/>
                <a:cs typeface="Georgia"/>
                <a:sym typeface="Georgia"/>
              </a:rPr>
              <a:t>identifying</a:t>
            </a:r>
            <a:r>
              <a:rPr lang="en" sz="2100">
                <a:latin typeface="Georgia"/>
                <a:ea typeface="Georgia"/>
                <a:cs typeface="Georgia"/>
                <a:sym typeface="Georgia"/>
              </a:rPr>
              <a:t> and </a:t>
            </a:r>
            <a:r>
              <a:rPr lang="en" sz="2100">
                <a:latin typeface="Georgia"/>
                <a:ea typeface="Georgia"/>
                <a:cs typeface="Georgia"/>
                <a:sym typeface="Georgia"/>
              </a:rPr>
              <a:t>classifying</a:t>
            </a:r>
            <a:r>
              <a:rPr lang="en" sz="2100">
                <a:latin typeface="Georgia"/>
                <a:ea typeface="Georgia"/>
                <a:cs typeface="Georgia"/>
                <a:sym typeface="Georgia"/>
              </a:rPr>
              <a:t> the tone and opinion expressed in text</a:t>
            </a:r>
            <a:endParaRPr sz="210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Project Overview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Goal: 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○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To be able to classify IMDB reviews as positive or negative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○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Determine which </a:t>
            </a:r>
            <a:r>
              <a:rPr lang="en">
                <a:latin typeface="Georgia"/>
                <a:ea typeface="Georgia"/>
                <a:cs typeface="Georgia"/>
                <a:sym typeface="Georgia"/>
              </a:rPr>
              <a:t>algorithm</a:t>
            </a:r>
            <a:r>
              <a:rPr lang="en">
                <a:latin typeface="Georgia"/>
                <a:ea typeface="Georgia"/>
                <a:cs typeface="Georgia"/>
                <a:sym typeface="Georgia"/>
              </a:rPr>
              <a:t> provides the best results and is the best option for this task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Approach: to use Term Frequency-Inverse Document Frequency (TF-IDF) to vectorize the dataset and then train different models with the dataset to see which work best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Dataset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Kaggle has a dataset of 50,000 IMDB reviews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These reviews are balanced between 25k positive and 25k negative reviews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475" y="2006527"/>
            <a:ext cx="4724750" cy="254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Text Preprocessing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Problems with the text: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○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Contains HTML line breaks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○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Contains capital letters and </a:t>
            </a:r>
            <a:r>
              <a:rPr lang="en">
                <a:latin typeface="Georgia"/>
                <a:ea typeface="Georgia"/>
                <a:cs typeface="Georgia"/>
                <a:sym typeface="Georgia"/>
              </a:rPr>
              <a:t>punctuation</a:t>
            </a:r>
            <a:r>
              <a:rPr lang="en">
                <a:latin typeface="Georgia"/>
                <a:ea typeface="Georgia"/>
                <a:cs typeface="Georgia"/>
                <a:sym typeface="Georgia"/>
              </a:rPr>
              <a:t> 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■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“Great”, “great”, and “great!”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○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Reviews may contain words that won’t be useful to the final sentiment analysis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■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Remove these words using NLTK’s stopword list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■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“</a:t>
            </a:r>
            <a:r>
              <a:rPr lang="en">
                <a:latin typeface="Georgia"/>
                <a:ea typeface="Georgia"/>
                <a:cs typeface="Georgia"/>
                <a:sym typeface="Georgia"/>
              </a:rPr>
              <a:t>t</a:t>
            </a:r>
            <a:r>
              <a:rPr lang="en">
                <a:latin typeface="Georgia"/>
                <a:ea typeface="Georgia"/>
                <a:cs typeface="Georgia"/>
                <a:sym typeface="Georgia"/>
              </a:rPr>
              <a:t>he”, “it”, “was”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Ensures that word frequency is accurate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 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2500" y="3549025"/>
            <a:ext cx="2561200" cy="94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Exploratory</a:t>
            </a:r>
            <a:r>
              <a:rPr lang="en">
                <a:latin typeface="Georgia"/>
                <a:ea typeface="Georgia"/>
                <a:cs typeface="Georgia"/>
                <a:sym typeface="Georgia"/>
              </a:rPr>
              <a:t> Data Analysis (EDA)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4150" y="1514475"/>
            <a:ext cx="2981325" cy="211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7625" y="1514475"/>
            <a:ext cx="2880099" cy="211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Term Frequency-Inverse Document Frequency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Commonly used in NLP to evaluate the importance of a word 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Term Frequency measures the amount a word appears in a document compared to the total number of words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Inverse Document Frequency reduces the weight of common words and increases those of rare words. This is because the chances a word appears less usually means that it’s more meaningful 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Using Principal Component Analysis for EDA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Because a TF-IDF can have thousands of features (one for each word)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Reviews that are close together use similar words and patterns </a:t>
            </a:r>
            <a:endParaRPr/>
          </a:p>
        </p:txBody>
      </p:sp>
      <p:pic>
        <p:nvPicPr>
          <p:cNvPr id="101" name="Google Shape;10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4325" y="2001602"/>
            <a:ext cx="3475350" cy="274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Evaluation Metrics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Precision: Out of all the predictions, how many were correct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Recall: Out of all the examples, how many did the model correctly identify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F1-Score: Comparison of both Precision and Recall together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Support: number of samples of each class in the test set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Precision vs Recall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	Of all the emails marked as spam, how many were actually spam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	Out of all the actual spam emails, how many did the it catch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Accuracy: Total Correct Predictions 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Naive Bayes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311700" y="1152475"/>
            <a:ext cx="5530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Assumes the features (words are independent)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Calculates the probability based on word frequency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Commonly used with text classification 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14" name="Google Shape;11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730538"/>
            <a:ext cx="4381500" cy="183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96500" y="1725025"/>
            <a:ext cx="3980325" cy="331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Logistic Regression 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Predicts the probability using a sigmoid function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Learns weights for each word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22" name="Google Shape;12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100" y="2741788"/>
            <a:ext cx="4191000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5050" y="1509049"/>
            <a:ext cx="4002826" cy="338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Linear </a:t>
            </a:r>
            <a:r>
              <a:rPr lang="en">
                <a:latin typeface="Georgia"/>
                <a:ea typeface="Georgia"/>
                <a:cs typeface="Georgia"/>
                <a:sym typeface="Georgia"/>
              </a:rPr>
              <a:t>Support Vector Machine 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9" name="Google Shape;129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Finds an optimal hyperplane that </a:t>
            </a:r>
            <a:r>
              <a:rPr lang="en">
                <a:latin typeface="Georgia"/>
                <a:ea typeface="Georgia"/>
                <a:cs typeface="Georgia"/>
                <a:sym typeface="Georgia"/>
              </a:rPr>
              <a:t>separates</a:t>
            </a:r>
            <a:r>
              <a:rPr lang="en">
                <a:latin typeface="Georgia"/>
                <a:ea typeface="Georgia"/>
                <a:cs typeface="Georgia"/>
                <a:sym typeface="Georgia"/>
              </a:rPr>
              <a:t> the classes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Good for high-dimensional data 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30" name="Google Shape;13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238" y="2765775"/>
            <a:ext cx="4124325" cy="177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73400" y="1806100"/>
            <a:ext cx="3758900" cy="316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Random Forest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7" name="Google Shape;13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A bunch of </a:t>
            </a:r>
            <a:r>
              <a:rPr lang="en">
                <a:latin typeface="Georgia"/>
                <a:ea typeface="Georgia"/>
                <a:cs typeface="Georgia"/>
                <a:sym typeface="Georgia"/>
              </a:rPr>
              <a:t>decision</a:t>
            </a:r>
            <a:r>
              <a:rPr lang="en">
                <a:latin typeface="Georgia"/>
                <a:ea typeface="Georgia"/>
                <a:cs typeface="Georgia"/>
                <a:sym typeface="Georgia"/>
              </a:rPr>
              <a:t> trees that are each trained on a random subset of data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Not good with text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38" name="Google Shape;13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188" y="2988700"/>
            <a:ext cx="4124325" cy="174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92600" y="1721134"/>
            <a:ext cx="3582250" cy="298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XGBoost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5" name="Google Shape;145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A boosting model that uses previous models to fix its mistakes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Limited with text jobs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46" name="Google Shape;14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816275"/>
            <a:ext cx="4095750" cy="175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18750" y="1789088"/>
            <a:ext cx="3513549" cy="294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Logistic Regression Weights</a:t>
            </a:r>
            <a:endParaRPr/>
          </a:p>
        </p:txBody>
      </p:sp>
      <p:sp>
        <p:nvSpPr>
          <p:cNvPr id="153" name="Google Shape;153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1625" y="1152475"/>
            <a:ext cx="5736546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Optimizing the Models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0" name="Google Shape;160;p28"/>
          <p:cNvSpPr txBox="1"/>
          <p:nvPr>
            <p:ph idx="1" type="body"/>
          </p:nvPr>
        </p:nvSpPr>
        <p:spPr>
          <a:xfrm>
            <a:off x="311700" y="1152475"/>
            <a:ext cx="4073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Used a Grid Search to try different parameters of C 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marR="5080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SzPts val="18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paramters_lr = {'C': [0.01, 0.1, 1, 10, 100]}</a:t>
            </a:r>
            <a:endParaRPr sz="1000">
              <a:solidFill>
                <a:srgbClr val="0055AA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Accuracy stays the same at .89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61" name="Google Shape;16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5100" y="184525"/>
            <a:ext cx="4644190" cy="438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Problems with the Model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7" name="Google Shape;167;p29"/>
          <p:cNvSpPr txBox="1"/>
          <p:nvPr>
            <p:ph idx="1" type="body"/>
          </p:nvPr>
        </p:nvSpPr>
        <p:spPr>
          <a:xfrm>
            <a:off x="311700" y="1152475"/>
            <a:ext cx="4547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NLTK’s stopwords might remove some vital words such as “not”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○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“The movie is not great” → “movie great”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Improper word tokens based on tense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Georgia"/>
              <a:buChar char="○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“Hated” vs “hate”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Georgia"/>
              <a:buChar char="●"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Optimizing the model adjusting the text preprocessor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68" name="Google Shape;16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6325" y="1017725"/>
            <a:ext cx="4141575" cy="2390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Web Demo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4" name="Google Shape;174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https://tinyurl.com/imdbsentiment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https://github.com/jasonyu17/IMDB-Sentiment-Classifier/tree/main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Questions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0" name="Google Shape;180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 </a:t>
            </a:r>
            <a:r>
              <a:rPr lang="en"/>
              <a:t>linear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Shallow neural network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